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32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D8A"/>
    <a:srgbClr val="4A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64" autoAdjust="0"/>
    <p:restoredTop sz="96035" autoAdjust="0"/>
  </p:normalViewPr>
  <p:slideViewPr>
    <p:cSldViewPr>
      <p:cViewPr varScale="1">
        <p:scale>
          <a:sx n="111" d="100"/>
          <a:sy n="111" d="100"/>
        </p:scale>
        <p:origin x="62" y="1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DDB8B-7D5F-470C-AA54-E5E666F937A0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C11BA-76A4-4478-9323-C5F9D794F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8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1C11BA-76A4-4478-9323-C5F9D794F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0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05AC-BAD0-4859-ACC7-9F09AB402D5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14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889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410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99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38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62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2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89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60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08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371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5E9ADDA-7521-4828-8FD3-1CF03507C6E4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Helvetica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10/13/2023</a:t>
            </a:fld>
            <a:endParaRPr lang="en-US">
              <a:solidFill>
                <a:prstClr val="black">
                  <a:tint val="75000"/>
                </a:prstClr>
              </a:solidFill>
              <a:latin typeface="Helvetica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Helvetica" charset="0"/>
              </a:rPr>
              <a:t>Temporal Planning</a:t>
            </a:r>
            <a:endParaRPr lang="en-US" dirty="0">
              <a:solidFill>
                <a:prstClr val="black">
                  <a:tint val="75000"/>
                </a:prstClr>
              </a:solidFill>
              <a:latin typeface="Helvetica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F320B42-BFA0-4E4F-98AF-24D7F1A391CA}" type="slidenum">
              <a:rPr lang="en-US" smtClean="0">
                <a:solidFill>
                  <a:prstClr val="black">
                    <a:tint val="75000"/>
                  </a:prstClr>
                </a:solidFill>
                <a:latin typeface="Helvetica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72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181384" y="6402104"/>
            <a:ext cx="2133600" cy="365125"/>
          </a:xfrm>
        </p:spPr>
        <p:txBody>
          <a:bodyPr/>
          <a:lstStyle/>
          <a:p>
            <a:fld id="{46349FF6-6113-4975-9C90-7B39BCB2FE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190892" y="3691004"/>
            <a:ext cx="2982953" cy="677108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REMOVED CLOCK INVARIANT CONCEPT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ADDED IDLING TRANSITIONS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Helvetica" charset="0"/>
                <a:cs typeface="Helvetica" pitchFamily="34" charset="0"/>
              </a:rPr>
              <a:t>Added transition numbering used for manual </a:t>
            </a:r>
            <a:r>
              <a:rPr lang="en-US" sz="1100" dirty="0" err="1">
                <a:latin typeface="Helvetica" charset="0"/>
                <a:cs typeface="Helvetica" pitchFamily="34" charset="0"/>
              </a:rPr>
              <a:t>MiniZinc</a:t>
            </a:r>
            <a:r>
              <a:rPr lang="en-US" sz="1100" dirty="0">
                <a:latin typeface="Helvetica" charset="0"/>
                <a:cs typeface="Helvetica" pitchFamily="34" charset="0"/>
              </a:rPr>
              <a:t> encoding, enclosed in green circles.</a:t>
            </a:r>
            <a:endParaRPr lang="en-US" sz="1100" dirty="0">
              <a:solidFill>
                <a:srgbClr val="00206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1000" y="3162368"/>
            <a:ext cx="4413589" cy="303559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190" y="325023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Helvetica" charset="0"/>
              </a:rPr>
              <a:t>Projector</a:t>
            </a:r>
          </a:p>
        </p:txBody>
      </p:sp>
      <p:cxnSp>
        <p:nvCxnSpPr>
          <p:cNvPr id="21" name="Curved Connector 20"/>
          <p:cNvCxnSpPr>
            <a:stCxn id="80" idx="3"/>
            <a:endCxn id="82" idx="1"/>
          </p:cNvCxnSpPr>
          <p:nvPr/>
        </p:nvCxnSpPr>
        <p:spPr>
          <a:xfrm flipV="1">
            <a:off x="1265363" y="4810171"/>
            <a:ext cx="1100059" cy="351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91" idx="1"/>
            <a:endCxn id="87" idx="3"/>
          </p:cNvCxnSpPr>
          <p:nvPr/>
        </p:nvCxnSpPr>
        <p:spPr>
          <a:xfrm flipH="1" flipV="1">
            <a:off x="1740659" y="5828556"/>
            <a:ext cx="1733868" cy="14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86" idx="2"/>
            <a:endCxn id="91" idx="0"/>
          </p:cNvCxnSpPr>
          <p:nvPr/>
        </p:nvCxnSpPr>
        <p:spPr>
          <a:xfrm flipH="1">
            <a:off x="3639259" y="4994092"/>
            <a:ext cx="582914" cy="70810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87" idx="0"/>
            <a:endCxn id="80" idx="2"/>
          </p:cNvCxnSpPr>
          <p:nvPr/>
        </p:nvCxnSpPr>
        <p:spPr>
          <a:xfrm flipH="1" flipV="1">
            <a:off x="1107423" y="4940194"/>
            <a:ext cx="293302" cy="7025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95416" y="25758"/>
            <a:ext cx="3480680" cy="2640846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1616" y="2575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Helvetica" charset="0"/>
              </a:rPr>
              <a:t>Computer</a:t>
            </a:r>
          </a:p>
        </p:txBody>
      </p:sp>
      <p:cxnSp>
        <p:nvCxnSpPr>
          <p:cNvPr id="43" name="Curved Connector 42"/>
          <p:cNvCxnSpPr>
            <a:cxnSpLocks/>
            <a:stCxn id="110" idx="3"/>
            <a:endCxn id="112" idx="1"/>
          </p:cNvCxnSpPr>
          <p:nvPr/>
        </p:nvCxnSpPr>
        <p:spPr>
          <a:xfrm>
            <a:off x="1535467" y="991364"/>
            <a:ext cx="993549" cy="27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cxnSpLocks/>
            <a:stCxn id="111" idx="1"/>
            <a:endCxn id="103" idx="3"/>
          </p:cNvCxnSpPr>
          <p:nvPr/>
        </p:nvCxnSpPr>
        <p:spPr>
          <a:xfrm flipH="1">
            <a:off x="1686130" y="1905764"/>
            <a:ext cx="1062903" cy="67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cxnSpLocks/>
            <a:stCxn id="112" idx="2"/>
            <a:endCxn id="111" idx="0"/>
          </p:cNvCxnSpPr>
          <p:nvPr/>
        </p:nvCxnSpPr>
        <p:spPr>
          <a:xfrm>
            <a:off x="2910969" y="1116295"/>
            <a:ext cx="2796" cy="66295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/>
          <p:cNvCxnSpPr>
            <a:cxnSpLocks/>
            <a:stCxn id="103" idx="0"/>
            <a:endCxn id="110" idx="2"/>
          </p:cNvCxnSpPr>
          <p:nvPr/>
        </p:nvCxnSpPr>
        <p:spPr>
          <a:xfrm flipH="1" flipV="1">
            <a:off x="1377527" y="1117874"/>
            <a:ext cx="2070" cy="6604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20"/>
          <p:cNvCxnSpPr>
            <a:stCxn id="82" idx="3"/>
            <a:endCxn id="86" idx="1"/>
          </p:cNvCxnSpPr>
          <p:nvPr/>
        </p:nvCxnSpPr>
        <p:spPr>
          <a:xfrm>
            <a:off x="2927726" y="4810171"/>
            <a:ext cx="912494" cy="18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327526" y="4593291"/>
            <a:ext cx="9144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=turn-off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51526" y="4449240"/>
            <a:ext cx="1123479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=turn-off ˄ 2&lt;c&lt;5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56390" y="5295968"/>
            <a:ext cx="5334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c=60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29901" y="5888691"/>
            <a:ext cx="1088289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=turn-on</a:t>
            </a:r>
          </a:p>
        </p:txBody>
      </p:sp>
      <p:cxnSp>
        <p:nvCxnSpPr>
          <p:cNvPr id="71" name="Curved Connector 70"/>
          <p:cNvCxnSpPr>
            <a:stCxn id="82" idx="2"/>
            <a:endCxn id="80" idx="2"/>
          </p:cNvCxnSpPr>
          <p:nvPr/>
        </p:nvCxnSpPr>
        <p:spPr>
          <a:xfrm rot="5400000" flipH="1">
            <a:off x="1850979" y="4196639"/>
            <a:ext cx="52039" cy="1539151"/>
          </a:xfrm>
          <a:prstGeom prst="curvedConnector3">
            <a:avLst>
              <a:gd name="adj1" fmla="val -26785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441790" y="5097404"/>
            <a:ext cx="986791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cmd≠turn-off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 ˄ c=5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0552" y="5171841"/>
            <a:ext cx="6096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c=30</a:t>
            </a:r>
          </a:p>
        </p:txBody>
      </p:sp>
      <p:cxnSp>
        <p:nvCxnSpPr>
          <p:cNvPr id="79" name="Curved Connector 78"/>
          <p:cNvCxnSpPr>
            <a:stCxn id="146" idx="3"/>
            <a:endCxn id="86" idx="0"/>
          </p:cNvCxnSpPr>
          <p:nvPr/>
        </p:nvCxnSpPr>
        <p:spPr>
          <a:xfrm>
            <a:off x="2940201" y="3759095"/>
            <a:ext cx="1281972" cy="870874"/>
          </a:xfrm>
          <a:prstGeom prst="curved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615643" y="2021922"/>
            <a:ext cx="11430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=turn-on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69039" y="718716"/>
            <a:ext cx="1145949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=turn-off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96554" y="1335401"/>
            <a:ext cx="684846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c=30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62000" y="1380481"/>
            <a:ext cx="6858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c=15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9482" y="4687173"/>
            <a:ext cx="315881" cy="253021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365422" y="4628109"/>
            <a:ext cx="562304" cy="364124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Confirm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40220" y="4629969"/>
            <a:ext cx="763905" cy="364123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 err="1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CoolDown</a:t>
            </a:r>
            <a:endParaRPr lang="en-US" sz="1050" dirty="0">
              <a:solidFill>
                <a:srgbClr val="00206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1060790" y="5642722"/>
            <a:ext cx="679869" cy="371667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 err="1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WarmUp</a:t>
            </a:r>
            <a:endParaRPr lang="en-US" sz="1050" dirty="0">
              <a:solidFill>
                <a:srgbClr val="00206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3474527" y="5702194"/>
            <a:ext cx="329463" cy="253021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Off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73063" y="1778358"/>
            <a:ext cx="613067" cy="268326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Booting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219586" y="864853"/>
            <a:ext cx="315881" cy="253021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On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749033" y="1779253"/>
            <a:ext cx="329463" cy="253021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Off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529016" y="871897"/>
            <a:ext cx="763905" cy="244398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Shutdown</a:t>
            </a:r>
          </a:p>
        </p:txBody>
      </p:sp>
      <p:cxnSp>
        <p:nvCxnSpPr>
          <p:cNvPr id="142" name="Curved Connector 141"/>
          <p:cNvCxnSpPr>
            <a:stCxn id="80" idx="0"/>
            <a:endCxn id="146" idx="1"/>
          </p:cNvCxnSpPr>
          <p:nvPr/>
        </p:nvCxnSpPr>
        <p:spPr>
          <a:xfrm rot="5400000" flipH="1" flipV="1">
            <a:off x="1229667" y="3636851"/>
            <a:ext cx="928078" cy="1172567"/>
          </a:xfrm>
          <a:prstGeom prst="curved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2279990" y="3568595"/>
            <a:ext cx="660211" cy="381000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Waiting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78150" y="3721337"/>
            <a:ext cx="1391783" cy="50783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(</a:t>
            </a: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comp≠on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˅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conn≠connected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)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˄ c=60</a:t>
            </a:r>
          </a:p>
        </p:txBody>
      </p:sp>
      <p:cxnSp>
        <p:nvCxnSpPr>
          <p:cNvPr id="160" name="Curved Connector 45"/>
          <p:cNvCxnSpPr>
            <a:stCxn id="146" idx="2"/>
            <a:endCxn id="80" idx="0"/>
          </p:cNvCxnSpPr>
          <p:nvPr/>
        </p:nvCxnSpPr>
        <p:spPr>
          <a:xfrm flipH="1">
            <a:off x="1107423" y="3949595"/>
            <a:ext cx="1502673" cy="73757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93385" y="3707244"/>
            <a:ext cx="1441869" cy="50783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(</a:t>
            </a: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comp≠on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˅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conn≠connected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)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˄ </a:t>
            </a: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cmd≠turn-off</a:t>
            </a:r>
            <a:endParaRPr lang="en-US" sz="1100" dirty="0">
              <a:solidFill>
                <a:prstClr val="black"/>
              </a:solidFill>
              <a:latin typeface="Helvetica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929260" y="4064469"/>
            <a:ext cx="1036530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comp=on ˄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conn=connected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8956" y="1168758"/>
            <a:ext cx="4052224" cy="1801096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572121" y="2023409"/>
            <a:ext cx="895814" cy="288974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Disconnected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18384" y="2007583"/>
            <a:ext cx="791737" cy="315634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rgbClr val="002060"/>
                </a:solidFill>
                <a:latin typeface="Helvetica" pitchFamily="34" charset="0"/>
                <a:cs typeface="Helvetica" pitchFamily="34" charset="0"/>
              </a:rPr>
              <a:t>Connected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7200" y="1168758"/>
            <a:ext cx="143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Helvetica" charset="0"/>
              </a:rPr>
              <a:t>Connection</a:t>
            </a:r>
          </a:p>
        </p:txBody>
      </p:sp>
      <p:cxnSp>
        <p:nvCxnSpPr>
          <p:cNvPr id="51" name="Curved Connector 50"/>
          <p:cNvCxnSpPr>
            <a:stCxn id="49" idx="0"/>
            <a:endCxn id="48" idx="0"/>
          </p:cNvCxnSpPr>
          <p:nvPr/>
        </p:nvCxnSpPr>
        <p:spPr>
          <a:xfrm rot="16200000" flipH="1">
            <a:off x="6209227" y="1212609"/>
            <a:ext cx="15826" cy="1605775"/>
          </a:xfrm>
          <a:prstGeom prst="curvedConnector3">
            <a:avLst>
              <a:gd name="adj1" fmla="val -144445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/>
          <p:cNvCxnSpPr>
            <a:stCxn id="48" idx="2"/>
            <a:endCxn id="49" idx="2"/>
          </p:cNvCxnSpPr>
          <p:nvPr/>
        </p:nvCxnSpPr>
        <p:spPr>
          <a:xfrm rot="5400000">
            <a:off x="6211724" y="1514913"/>
            <a:ext cx="10834" cy="1605775"/>
          </a:xfrm>
          <a:prstGeom prst="curvedConnector3">
            <a:avLst>
              <a:gd name="adj1" fmla="val 2210024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721686" y="2557721"/>
            <a:ext cx="983914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=connect ˄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  <a:cs typeface="Helvetica" pitchFamily="34" charset="0"/>
              </a:rPr>
              <a:t>comp=off</a:t>
            </a:r>
            <a:endParaRPr lang="en-US" sz="1100" dirty="0">
              <a:solidFill>
                <a:srgbClr val="00206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516473" y="1524675"/>
            <a:ext cx="1353761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=disconnect</a:t>
            </a:r>
            <a:endParaRPr lang="en-US" sz="1100" dirty="0">
              <a:solidFill>
                <a:srgbClr val="00206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2" name="Down Arrow 1"/>
          <p:cNvSpPr/>
          <p:nvPr/>
        </p:nvSpPr>
        <p:spPr>
          <a:xfrm rot="19153779">
            <a:off x="4037322" y="453719"/>
            <a:ext cx="315881" cy="575074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Down Arrow 62"/>
          <p:cNvSpPr/>
          <p:nvPr/>
        </p:nvSpPr>
        <p:spPr>
          <a:xfrm rot="20360829">
            <a:off x="1750425" y="2691587"/>
            <a:ext cx="315881" cy="422133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Down Arrow 75"/>
          <p:cNvSpPr/>
          <p:nvPr/>
        </p:nvSpPr>
        <p:spPr>
          <a:xfrm rot="1824656">
            <a:off x="4919756" y="3123868"/>
            <a:ext cx="315881" cy="425447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677524" y="6274158"/>
            <a:ext cx="5037476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The guard always includes the clock constraint 0≤c&lt;∞ unless otherwise noted.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The clock variable is always reset, c:=0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81B72179-76DD-285D-5047-C2EFC7657E67}"/>
              </a:ext>
            </a:extLst>
          </p:cNvPr>
          <p:cNvSpPr/>
          <p:nvPr/>
        </p:nvSpPr>
        <p:spPr>
          <a:xfrm flipV="1">
            <a:off x="7363013" y="1905675"/>
            <a:ext cx="487782" cy="498482"/>
          </a:xfrm>
          <a:prstGeom prst="arc">
            <a:avLst>
              <a:gd name="adj1" fmla="val 13459923"/>
              <a:gd name="adj2" fmla="val 829077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5DCD7-F2B2-3EFB-E491-010A750EF880}"/>
              </a:ext>
            </a:extLst>
          </p:cNvPr>
          <p:cNvSpPr txBox="1"/>
          <p:nvPr/>
        </p:nvSpPr>
        <p:spPr>
          <a:xfrm>
            <a:off x="7010400" y="2439075"/>
            <a:ext cx="1163445" cy="33855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cmd≠connect</a:t>
            </a: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 ˅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  <a:cs typeface="Helvetica" pitchFamily="34" charset="0"/>
              </a:rPr>
              <a:t>comp</a:t>
            </a: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≠</a:t>
            </a:r>
            <a:r>
              <a:rPr lang="en-US" sz="1100" dirty="0" err="1">
                <a:solidFill>
                  <a:prstClr val="black"/>
                </a:solidFill>
                <a:latin typeface="Helvetica" charset="0"/>
                <a:cs typeface="Helvetica" pitchFamily="34" charset="0"/>
              </a:rPr>
              <a:t>off</a:t>
            </a:r>
            <a:endParaRPr lang="en-US" sz="1100" dirty="0">
              <a:solidFill>
                <a:srgbClr val="00206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DE7348DE-5B09-0C36-A65D-7AF8E8FE1E86}"/>
              </a:ext>
            </a:extLst>
          </p:cNvPr>
          <p:cNvSpPr/>
          <p:nvPr/>
        </p:nvSpPr>
        <p:spPr>
          <a:xfrm rot="10800000" flipV="1">
            <a:off x="4617618" y="1905675"/>
            <a:ext cx="487782" cy="489724"/>
          </a:xfrm>
          <a:prstGeom prst="arc">
            <a:avLst>
              <a:gd name="adj1" fmla="val 13459923"/>
              <a:gd name="adj2" fmla="val 829077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8AF80A-1E70-FCCE-F940-A4C098F60F0A}"/>
              </a:ext>
            </a:extLst>
          </p:cNvPr>
          <p:cNvSpPr txBox="1"/>
          <p:nvPr/>
        </p:nvSpPr>
        <p:spPr>
          <a:xfrm>
            <a:off x="4297451" y="1660198"/>
            <a:ext cx="1188949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cmd≠disconnect</a:t>
            </a:r>
            <a:endParaRPr lang="en-US" sz="1100" dirty="0">
              <a:solidFill>
                <a:srgbClr val="00206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AD55AC8-6E24-8B26-0A81-203F8EE2E2D0}"/>
              </a:ext>
            </a:extLst>
          </p:cNvPr>
          <p:cNvSpPr/>
          <p:nvPr/>
        </p:nvSpPr>
        <p:spPr>
          <a:xfrm rot="2429249" flipV="1">
            <a:off x="2955068" y="1879859"/>
            <a:ext cx="375127" cy="383356"/>
          </a:xfrm>
          <a:prstGeom prst="arc">
            <a:avLst>
              <a:gd name="adj1" fmla="val 13459923"/>
              <a:gd name="adj2" fmla="val 829077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67105BD2-057A-9412-215E-4894A787D1D9}"/>
              </a:ext>
            </a:extLst>
          </p:cNvPr>
          <p:cNvSpPr/>
          <p:nvPr/>
        </p:nvSpPr>
        <p:spPr>
          <a:xfrm rot="18900000" flipV="1">
            <a:off x="3159097" y="632715"/>
            <a:ext cx="375127" cy="383356"/>
          </a:xfrm>
          <a:prstGeom prst="arc">
            <a:avLst>
              <a:gd name="adj1" fmla="val 13459923"/>
              <a:gd name="adj2" fmla="val 829077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B8ADB05-C3A2-E880-F58B-8F71EEEFBC06}"/>
              </a:ext>
            </a:extLst>
          </p:cNvPr>
          <p:cNvSpPr/>
          <p:nvPr/>
        </p:nvSpPr>
        <p:spPr>
          <a:xfrm rot="8100000" flipV="1">
            <a:off x="827146" y="1892423"/>
            <a:ext cx="375127" cy="383356"/>
          </a:xfrm>
          <a:prstGeom prst="arc">
            <a:avLst>
              <a:gd name="adj1" fmla="val 13459923"/>
              <a:gd name="adj2" fmla="val 829077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C19AADA-32CB-0AFF-0FE8-B0F5E016FD7B}"/>
              </a:ext>
            </a:extLst>
          </p:cNvPr>
          <p:cNvSpPr/>
          <p:nvPr/>
        </p:nvSpPr>
        <p:spPr>
          <a:xfrm rot="13500000" flipV="1">
            <a:off x="999912" y="613435"/>
            <a:ext cx="375127" cy="383356"/>
          </a:xfrm>
          <a:prstGeom prst="arc">
            <a:avLst>
              <a:gd name="adj1" fmla="val 13459923"/>
              <a:gd name="adj2" fmla="val 829077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C8C671-0895-72F5-1C58-8694532C6AAF}"/>
              </a:ext>
            </a:extLst>
          </p:cNvPr>
          <p:cNvSpPr txBox="1"/>
          <p:nvPr/>
        </p:nvSpPr>
        <p:spPr>
          <a:xfrm>
            <a:off x="584231" y="399099"/>
            <a:ext cx="1145949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cmd≠turn-off</a:t>
            </a:r>
            <a:endParaRPr lang="en-US" sz="1100" dirty="0">
              <a:solidFill>
                <a:prstClr val="black"/>
              </a:solidFill>
              <a:latin typeface="Helvetica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DAE014-ABDC-43E3-9BD4-54C3ED5F727C}"/>
              </a:ext>
            </a:extLst>
          </p:cNvPr>
          <p:cNvSpPr txBox="1"/>
          <p:nvPr/>
        </p:nvSpPr>
        <p:spPr>
          <a:xfrm>
            <a:off x="2974910" y="411603"/>
            <a:ext cx="684846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c&lt;30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61EEF8-C759-B328-04BB-504834C1D31A}"/>
              </a:ext>
            </a:extLst>
          </p:cNvPr>
          <p:cNvSpPr txBox="1"/>
          <p:nvPr/>
        </p:nvSpPr>
        <p:spPr>
          <a:xfrm>
            <a:off x="2607593" y="2310761"/>
            <a:ext cx="11430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err="1">
                <a:solidFill>
                  <a:prstClr val="black"/>
                </a:solidFill>
                <a:latin typeface="Helvetica" charset="0"/>
              </a:rPr>
              <a:t>cmd≠turn-on</a:t>
            </a:r>
            <a:endParaRPr lang="en-US" sz="1100" dirty="0">
              <a:solidFill>
                <a:prstClr val="black"/>
              </a:solidFill>
              <a:latin typeface="Helvetica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EADE49-967D-A864-E8A3-BB87491289D5}"/>
              </a:ext>
            </a:extLst>
          </p:cNvPr>
          <p:cNvSpPr txBox="1"/>
          <p:nvPr/>
        </p:nvSpPr>
        <p:spPr>
          <a:xfrm>
            <a:off x="657112" y="2315230"/>
            <a:ext cx="6858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black"/>
                </a:solidFill>
                <a:latin typeface="Helvetica" charset="0"/>
              </a:rPr>
              <a:t>c&lt;15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1F915B-B12B-D299-935C-B41A87C82A60}"/>
              </a:ext>
            </a:extLst>
          </p:cNvPr>
          <p:cNvSpPr txBox="1"/>
          <p:nvPr/>
        </p:nvSpPr>
        <p:spPr>
          <a:xfrm>
            <a:off x="5134667" y="4924104"/>
            <a:ext cx="3783206" cy="64633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0000"/>
                </a:solidFill>
                <a:latin typeface="Helvetica" charset="0"/>
                <a:cs typeface="Helvetica" pitchFamily="34" charset="0"/>
              </a:rPr>
              <a:t>TODO:</a:t>
            </a:r>
            <a:br>
              <a:rPr lang="en-US" sz="1400" dirty="0">
                <a:solidFill>
                  <a:srgbClr val="FF0000"/>
                </a:solidFill>
                <a:latin typeface="Helvetica" charset="0"/>
                <a:cs typeface="Helvetica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Helvetica" charset="0"/>
                <a:cs typeface="Helvetica" pitchFamily="34" charset="0"/>
              </a:rPr>
              <a:t>Add Idling Transitions to Projector Automata.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0000"/>
                </a:solidFill>
                <a:latin typeface="Helvetica" charset="0"/>
                <a:cs typeface="Helvetica" pitchFamily="34" charset="0"/>
              </a:rPr>
              <a:t>Add Clock Resets to all Automata.</a:t>
            </a:r>
            <a:endParaRPr lang="en-US" sz="1400" dirty="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ECC60F-1DF7-22FE-EC5F-4085E599BE43}"/>
              </a:ext>
            </a:extLst>
          </p:cNvPr>
          <p:cNvSpPr/>
          <p:nvPr/>
        </p:nvSpPr>
        <p:spPr>
          <a:xfrm>
            <a:off x="1921417" y="997471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8D9B28-E048-CE8C-EE96-625EB9F3C4AC}"/>
              </a:ext>
            </a:extLst>
          </p:cNvPr>
          <p:cNvSpPr/>
          <p:nvPr/>
        </p:nvSpPr>
        <p:spPr>
          <a:xfrm>
            <a:off x="2652918" y="1289994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426EDA-1AA9-9B78-AED2-873D261C17B1}"/>
              </a:ext>
            </a:extLst>
          </p:cNvPr>
          <p:cNvSpPr/>
          <p:nvPr/>
        </p:nvSpPr>
        <p:spPr>
          <a:xfrm>
            <a:off x="2103281" y="1666907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C03800-E762-E3B6-0ECF-41211D47AF0D}"/>
              </a:ext>
            </a:extLst>
          </p:cNvPr>
          <p:cNvSpPr/>
          <p:nvPr/>
        </p:nvSpPr>
        <p:spPr>
          <a:xfrm>
            <a:off x="1390779" y="1355198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64F74E-F3C9-15D2-3722-1A93D9ED7A4F}"/>
              </a:ext>
            </a:extLst>
          </p:cNvPr>
          <p:cNvSpPr/>
          <p:nvPr/>
        </p:nvSpPr>
        <p:spPr>
          <a:xfrm>
            <a:off x="688351" y="706527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293E747-6BF4-FDC5-7563-194C8205197B}"/>
              </a:ext>
            </a:extLst>
          </p:cNvPr>
          <p:cNvSpPr/>
          <p:nvPr/>
        </p:nvSpPr>
        <p:spPr>
          <a:xfrm>
            <a:off x="3557641" y="672878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4243E9D-097B-F845-76B7-0CF0B98584D8}"/>
              </a:ext>
            </a:extLst>
          </p:cNvPr>
          <p:cNvSpPr/>
          <p:nvPr/>
        </p:nvSpPr>
        <p:spPr>
          <a:xfrm>
            <a:off x="3372566" y="199226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2DE04C3-F8B4-7AF3-34C2-0A8F84D87FCC}"/>
              </a:ext>
            </a:extLst>
          </p:cNvPr>
          <p:cNvSpPr/>
          <p:nvPr/>
        </p:nvSpPr>
        <p:spPr>
          <a:xfrm>
            <a:off x="538733" y="1988545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8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4E92FFB-99F5-E8F9-B528-4D5FDD3942FD}"/>
              </a:ext>
            </a:extLst>
          </p:cNvPr>
          <p:cNvSpPr/>
          <p:nvPr/>
        </p:nvSpPr>
        <p:spPr>
          <a:xfrm>
            <a:off x="6108483" y="1840706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9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DBDF293-ED54-EEC3-CD74-68F62B8C1AC8}"/>
              </a:ext>
            </a:extLst>
          </p:cNvPr>
          <p:cNvSpPr/>
          <p:nvPr/>
        </p:nvSpPr>
        <p:spPr>
          <a:xfrm>
            <a:off x="6078681" y="2288726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EADD77D-2F66-B9B9-A9AE-AFE4E3C98FE2}"/>
              </a:ext>
            </a:extLst>
          </p:cNvPr>
          <p:cNvSpPr/>
          <p:nvPr/>
        </p:nvSpPr>
        <p:spPr>
          <a:xfrm>
            <a:off x="4351879" y="2017895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5672BD8-D1AB-9373-2FAE-4199D54ACD68}"/>
              </a:ext>
            </a:extLst>
          </p:cNvPr>
          <p:cNvSpPr/>
          <p:nvPr/>
        </p:nvSpPr>
        <p:spPr>
          <a:xfrm>
            <a:off x="7938476" y="2029908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08A900D-4019-ED8D-DAF9-2A3D66EC0162}"/>
              </a:ext>
            </a:extLst>
          </p:cNvPr>
          <p:cNvSpPr/>
          <p:nvPr/>
        </p:nvSpPr>
        <p:spPr>
          <a:xfrm>
            <a:off x="2473494" y="5507691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013160F-6F24-F92B-3E5E-EECFB6BEF8A1}"/>
              </a:ext>
            </a:extLst>
          </p:cNvPr>
          <p:cNvSpPr/>
          <p:nvPr/>
        </p:nvSpPr>
        <p:spPr>
          <a:xfrm>
            <a:off x="990600" y="533400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A8A0F9-D8BE-7E3D-0EFD-36420417E8A3}"/>
              </a:ext>
            </a:extLst>
          </p:cNvPr>
          <p:cNvSpPr/>
          <p:nvPr/>
        </p:nvSpPr>
        <p:spPr>
          <a:xfrm>
            <a:off x="2164810" y="444347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15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87EE362-3361-50F8-7E43-C730F131DF10}"/>
              </a:ext>
            </a:extLst>
          </p:cNvPr>
          <p:cNvSpPr/>
          <p:nvPr/>
        </p:nvSpPr>
        <p:spPr>
          <a:xfrm>
            <a:off x="1631214" y="3576802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16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D791A13-6E2E-9AD4-9470-B2993F40A43C}"/>
              </a:ext>
            </a:extLst>
          </p:cNvPr>
          <p:cNvSpPr/>
          <p:nvPr/>
        </p:nvSpPr>
        <p:spPr>
          <a:xfrm>
            <a:off x="3303290" y="4876828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17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E756B3E-354E-9761-2732-30944345297F}"/>
              </a:ext>
            </a:extLst>
          </p:cNvPr>
          <p:cNvSpPr/>
          <p:nvPr/>
        </p:nvSpPr>
        <p:spPr>
          <a:xfrm>
            <a:off x="4168758" y="416366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18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7002BF3-EDB6-A669-53CE-21EB3B570157}"/>
              </a:ext>
            </a:extLst>
          </p:cNvPr>
          <p:cNvSpPr/>
          <p:nvPr/>
        </p:nvSpPr>
        <p:spPr>
          <a:xfrm>
            <a:off x="1626359" y="4266926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19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EB8BDA-4F23-18AD-246F-053939FC0EEB}"/>
              </a:ext>
            </a:extLst>
          </p:cNvPr>
          <p:cNvSpPr/>
          <p:nvPr/>
        </p:nvSpPr>
        <p:spPr>
          <a:xfrm>
            <a:off x="1254074" y="4936681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20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346C948-8F59-950C-A614-BFF004D3AC04}"/>
              </a:ext>
            </a:extLst>
          </p:cNvPr>
          <p:cNvSpPr/>
          <p:nvPr/>
        </p:nvSpPr>
        <p:spPr>
          <a:xfrm>
            <a:off x="3709298" y="5875463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AF4921A-D989-123A-9D7F-C85418B7202E}"/>
              </a:ext>
            </a:extLst>
          </p:cNvPr>
          <p:cNvSpPr/>
          <p:nvPr/>
        </p:nvSpPr>
        <p:spPr>
          <a:xfrm>
            <a:off x="944610" y="5882004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22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B2448C2-DF7A-20E3-D4D1-AC4D818CC52C}"/>
              </a:ext>
            </a:extLst>
          </p:cNvPr>
          <p:cNvSpPr/>
          <p:nvPr/>
        </p:nvSpPr>
        <p:spPr>
          <a:xfrm>
            <a:off x="816923" y="4557770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23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E48FFC8-CE48-E5FC-E1AA-9250B98D18B4}"/>
              </a:ext>
            </a:extLst>
          </p:cNvPr>
          <p:cNvSpPr/>
          <p:nvPr/>
        </p:nvSpPr>
        <p:spPr>
          <a:xfrm>
            <a:off x="2746332" y="4883565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24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62BA164-5F5D-CDF2-F866-F5A5542ED9F5}"/>
              </a:ext>
            </a:extLst>
          </p:cNvPr>
          <p:cNvSpPr/>
          <p:nvPr/>
        </p:nvSpPr>
        <p:spPr>
          <a:xfrm>
            <a:off x="4513968" y="4883565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25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2E81670-45FB-48A5-DC5F-3E3F31D970A2}"/>
              </a:ext>
            </a:extLst>
          </p:cNvPr>
          <p:cNvSpPr/>
          <p:nvPr/>
        </p:nvSpPr>
        <p:spPr>
          <a:xfrm>
            <a:off x="2845509" y="3452838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4820D95-B208-121C-77EC-D09AD79A6C8A}"/>
              </a:ext>
            </a:extLst>
          </p:cNvPr>
          <p:cNvSpPr/>
          <p:nvPr/>
        </p:nvSpPr>
        <p:spPr>
          <a:xfrm>
            <a:off x="3860705" y="5427145"/>
            <a:ext cx="228600" cy="228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41084861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15716</TotalTime>
  <Words>213</Words>
  <Application>Microsoft Office PowerPoint</Application>
  <PresentationFormat>On-screen Show (4:3)</PresentationFormat>
  <Paragraphs>79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</vt:lpstr>
      <vt:lpstr>3_Office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Timed Automata (TA)</dc:title>
  <dc:creator>David Wang</dc:creator>
  <cp:lastModifiedBy>David Wang</cp:lastModifiedBy>
  <cp:revision>235</cp:revision>
  <cp:lastPrinted>2015-05-21T15:10:26Z</cp:lastPrinted>
  <dcterms:created xsi:type="dcterms:W3CDTF">2006-08-16T00:00:00Z</dcterms:created>
  <dcterms:modified xsi:type="dcterms:W3CDTF">2023-10-13T21:58:22Z</dcterms:modified>
</cp:coreProperties>
</file>